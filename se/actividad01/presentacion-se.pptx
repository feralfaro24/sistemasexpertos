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361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6400800" cy="64008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3108960" cy="347472"/>
          </a:xfrm>
          <a:prstGeom prst="roundRect">
            <a:avLst>
              <a:gd name="adj" fmla="val 15789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4B5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Expertos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· Base de Conocimiento · Motor de Inferencia · Tipos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8046720" cy="0"/>
          </a:xfrm>
          <a:prstGeom prst="line">
            <a:avLst/>
          </a:prstGeom>
          <a:noFill/>
          <a:ln w="12700">
            <a:solidFill>
              <a:srgbClr val="1E88E5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502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Alfaro Montalvo  ·  Matrícula 221204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270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 (IA)  ·  Prof. Alejandro Flores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2011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Conocimiento?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IA, el conocimiento es la combinación de datos, reglas y experiencias que permiten tomar decisiones inteligentes. Existen tres tipos: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53312" y="1719072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4632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999232"/>
            <a:ext cx="2057400" cy="0"/>
          </a:xfrm>
          <a:prstGeom prst="line">
            <a:avLst/>
          </a:prstGeom>
          <a:noFill/>
          <a:ln w="12700">
            <a:solidFill>
              <a:srgbClr val="1565C0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31089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y datos conocidos sobre el mundo.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fiebre es superior a 38°C"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46304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1719072"/>
            <a:ext cx="73152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10712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21024" y="2999232"/>
            <a:ext cx="2057400" cy="0"/>
          </a:xfrm>
          <a:prstGeom prst="line">
            <a:avLst/>
          </a:prstGeom>
          <a:noFill/>
          <a:ln w="12700">
            <a:solidFill>
              <a:srgbClr val="00897B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8144" y="31089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y procedimientos para resolver un problema.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hay fiebre Y dolor → antibiótico"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9632" y="146304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05472" y="1719072"/>
            <a:ext cx="731520" cy="7315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36792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Metaconocimiento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47104" y="2999232"/>
            <a:ext cx="2057400" cy="0"/>
          </a:xfrm>
          <a:prstGeom prst="line">
            <a:avLst/>
          </a:prstGeom>
          <a:noFill/>
          <a:ln w="12700">
            <a:solidFill>
              <a:srgbClr val="6A1B9A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1089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sobre el propio conocimiento.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sabemos y cómo usarlo.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2011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Conocimiento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594360"/>
          </a:xfrm>
          <a:prstGeom prst="roundRect">
            <a:avLst>
              <a:gd name="adj" fmla="val 1846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 —  Dinámicos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Describen el </a:t>
            </a: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situación.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almacenan en la </a:t>
            </a: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trabajo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DINÁMICOS — cambian entre ejecuciones del sistema.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Temperatura del paciente: 39.2°C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Saldo de cuenta bancaria: $1,500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Nivel de glucosa: 145 mg/dL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Diagnóstico actual: indefinido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023360" cy="594360"/>
          </a:xfrm>
          <a:prstGeom prst="roundRect">
            <a:avLst>
              <a:gd name="adj" fmla="val 1846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60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 —  Estáticas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6459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Afirmaciones </a:t>
            </a: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… ENTONCES …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cambian entre aplicaciones del sistema.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regla: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28032" y="2542032"/>
            <a:ext cx="3749040" cy="1572768"/>
          </a:xfrm>
          <a:prstGeom prst="roundRect">
            <a:avLst>
              <a:gd name="adj" fmla="val 5814"/>
            </a:avLst>
          </a:prstGeom>
          <a:solidFill>
            <a:srgbClr val="E8F5E9"/>
          </a:solidFill>
          <a:ln w="9525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606040"/>
            <a:ext cx="3493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&gt; 38°C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dolor_cabeza = verdadero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infección = probable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4206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sistema depende de la calidad del conocimiento.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2011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Inferencia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cerebro del sistema experto: aplica reglas sobre hechos para llegar a conclusiones."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160520" cy="2240280"/>
          </a:xfrm>
          <a:prstGeom prst="roundRect">
            <a:avLst>
              <a:gd name="adj" fmla="val 4898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572768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5910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Adelante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9568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3042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los </a:t>
            </a: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disponibles</a:t>
            </a: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aplica reglas para generar nuevas conclusiones.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</a:t>
            </a:r>
            <a:r>
              <a:rPr lang="en-US" sz="12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“¿Qué puedo concluir de lo que ya sé?”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89888"/>
            <a:ext cx="4160520" cy="2240280"/>
          </a:xfrm>
          <a:prstGeom prst="roundRect">
            <a:avLst>
              <a:gd name="adj" fmla="val 4898"/>
            </a:avLst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56048" y="1572768"/>
            <a:ext cx="658368" cy="6583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15000" y="15910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Atrás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19568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9472" y="23042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una </a:t>
            </a: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trabaja hacia atrás buscando hechos que la soporten.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</a:t>
            </a:r>
            <a:r>
              <a:rPr lang="en-US" sz="12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“¿Esta conclusión es válida?”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549640" cy="896112"/>
          </a:xfrm>
          <a:prstGeom prst="roundRect">
            <a:avLst>
              <a:gd name="adj" fmla="val 10204"/>
            </a:avLst>
          </a:prstGeom>
          <a:solidFill>
            <a:srgbClr val="FFF8E1"/>
          </a:solidFill>
          <a:ln w="9525">
            <a:solidFill>
              <a:srgbClr val="FFB3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379476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Subsistema de Explicación:  </a:t>
            </a: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al usuario entender </a:t>
            </a: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sistema llegó a una conclusión. Fundamental para generar confianza.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474720"/>
            <a:ext cx="4114800" cy="4114800"/>
          </a:xfrm>
          <a:prstGeom prst="ellipse">
            <a:avLst/>
          </a:prstGeom>
          <a:solidFill>
            <a:srgbClr val="1565C0">
              <a:alpha val="16000"/>
            </a:srgbClr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011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05840" y="2633472"/>
            <a:ext cx="6812280" cy="0"/>
          </a:xfrm>
          <a:prstGeom prst="line">
            <a:avLst/>
          </a:prstGeom>
          <a:noFill/>
          <a:ln w="3175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505456"/>
            <a:ext cx="256032" cy="256032"/>
          </a:xfrm>
          <a:prstGeom prst="ellipse">
            <a:avLst/>
          </a:prstGeom>
          <a:solidFill>
            <a:srgbClr val="1E88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980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1810512"/>
            <a:ext cx="0" cy="822960"/>
          </a:xfrm>
          <a:prstGeom prst="line">
            <a:avLst/>
          </a:prstGeom>
          <a:noFill/>
          <a:ln w="12700">
            <a:solidFill>
              <a:srgbClr val="1E88E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92608" y="896112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Conferencia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Dartmouth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"IA" acuñado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McCarthy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15184" y="2505456"/>
            <a:ext cx="256032" cy="256032"/>
          </a:xfrm>
          <a:prstGeom prst="ellipse">
            <a:avLst/>
          </a:prstGeom>
          <a:solidFill>
            <a:srgbClr val="1E88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194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2633472"/>
            <a:ext cx="0" cy="822960"/>
          </a:xfrm>
          <a:prstGeom prst="line">
            <a:avLst/>
          </a:prstGeom>
          <a:noFill/>
          <a:ln w="12700">
            <a:solidFill>
              <a:srgbClr val="1E88E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029968" y="3547872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(Feigenbaum)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SE real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Stanford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52544" y="2505456"/>
            <a:ext cx="256032" cy="256032"/>
          </a:xfrm>
          <a:prstGeom prst="ellipse">
            <a:avLst/>
          </a:prstGeom>
          <a:solidFill>
            <a:srgbClr val="1E88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7980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1810512"/>
            <a:ext cx="0" cy="822960"/>
          </a:xfrm>
          <a:prstGeom prst="line">
            <a:avLst/>
          </a:prstGeom>
          <a:noFill/>
          <a:ln w="12700">
            <a:solidFill>
              <a:srgbClr val="1E88E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767328" y="896112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infecciones;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de médicos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2505456"/>
            <a:ext cx="256032" cy="256032"/>
          </a:xfrm>
          <a:prstGeom prst="ellipse">
            <a:avLst/>
          </a:prstGeom>
          <a:solidFill>
            <a:srgbClr val="1E88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194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633472"/>
            <a:ext cx="0" cy="822960"/>
          </a:xfrm>
          <a:prstGeom prst="line">
            <a:avLst/>
          </a:prstGeom>
          <a:noFill/>
          <a:ln w="12700">
            <a:solidFill>
              <a:srgbClr val="1E88E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504688" y="3547872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Apogeo comercial.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XCON de DEC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ahorró millones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año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90104" y="2505456"/>
            <a:ext cx="256032" cy="256032"/>
          </a:xfrm>
          <a:prstGeom prst="ellipse">
            <a:avLst/>
          </a:prstGeom>
          <a:solidFill>
            <a:srgbClr val="1E88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7980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1810512"/>
            <a:ext cx="0" cy="822960"/>
          </a:xfrm>
          <a:prstGeom prst="line">
            <a:avLst/>
          </a:prstGeom>
          <a:noFill/>
          <a:ln w="12700">
            <a:solidFill>
              <a:srgbClr val="1E88E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104888" y="896112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híbridos: 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2011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Sistemas Expertos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8056" y="1124712"/>
            <a:ext cx="530352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124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" y="11430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Basados en Reglas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" y="169164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reglas SI-ENTONCES.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Deterministás y fáciles de implementar.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diagnóstico médico básico.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960120"/>
            <a:ext cx="26517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24712"/>
            <a:ext cx="530352" cy="53035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124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11430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Basados en Casos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69164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Resuelven nuevos problemas por similitud con casos previos (CBR).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sistemas legales.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1124712"/>
            <a:ext cx="530352" cy="53035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124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67728" y="11430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Basados en Marcos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5936" y="169164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Organizan el conocimiento en frames con herencia de propiedades (similar a POO).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40233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" y="3072384"/>
            <a:ext cx="530352" cy="5303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3072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9848" y="3090672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Difusos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" y="363931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difusa con valores entre 0 y 1. Manejan incertidumbre y gradualidad.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control industrial, termostatos.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907792"/>
            <a:ext cx="40233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28616" y="3072384"/>
            <a:ext cx="530352" cy="5303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3072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50408" y="3090672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Híbridos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28616" y="363931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 reglas con redes neuronales y aprendizaje automático.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más modernos y potentes.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82880" cy="18288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0700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 simulan el razonamiento de un experto humano en un dominio específico.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75104"/>
            <a:ext cx="182880" cy="18288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6537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conocimiento (hechos + reglas) es el corazón del sistema.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82880" cy="18288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2374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inferencia (forward / backward chaining) genera conclusiones inteligentes.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8211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Evolucionaron desde DENDRAL (1965) hasta sistemas híbridos con redes neuronales.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50208"/>
            <a:ext cx="182880" cy="18288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404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siendo esenciales donde la transparencia y explicabilidad son críticas.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12700">
            <a:solidFill>
              <a:srgbClr val="1E88E5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Alfaro Montalvo  ·  Matrícula 221204  ·  Programación Avanzada (IA)  ·  Prof. Alejandro Flores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Presentación en pantalla (16:9)</PresentationFormat>
  <Paragraphs>134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Expertos</dc:title>
  <dc:subject>PptxGenJS Presentation</dc:subject>
  <dc:creator>Fernando Alfaro Montalvo</dc:creator>
  <cp:lastModifiedBy>Fernando Alfaro</cp:lastModifiedBy>
  <cp:revision>1</cp:revision>
  <dcterms:created xsi:type="dcterms:W3CDTF">2026-06-29T06:33:54Z</dcterms:created>
  <dcterms:modified xsi:type="dcterms:W3CDTF">2026-06-29T06:41:54Z</dcterms:modified>
</cp:coreProperties>
</file>