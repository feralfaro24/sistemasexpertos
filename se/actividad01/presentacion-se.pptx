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C4A6E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914400"/>
            <a:ext cx="2286000" cy="228600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B4D8"/>
                </a:solidFill>
              </a:rPr>
              <a:t>PROGRAMACIÓN AVANZADA — 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Expertos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28016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5204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fundamentales: conocimiento, base de conocimiento,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inferencia, línea de tiempo y tipos.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9BBF"/>
                </a:solidFill>
              </a:rPr>
              <a:t>Fernando Alfaro Montalvo  ·  Matrícula 221204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SISTEMA EXPERTO?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1C4A6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70432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"Un sistema experto es un programa de computadora que simula el razonamiento y comportamiento de un experto humano en un área específica del conocimiento."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65760" y="242316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25880" y="2542032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254203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" y="3337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reglas de conocimiento para llegar a conclusiones lógicas.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242316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60520" y="2542032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520" y="254203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200400" y="3337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Rápido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91840" y="3749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problemas complejos más rápido que el experto humano.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242316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95160" y="2542032"/>
            <a:ext cx="731520" cy="7315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254203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035040" y="3337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26480" y="3749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justificar por qué tomó una decisión determinada.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CONOCIMIENTO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Combinación de hechos, conceptos, reglas y experiencias que permiten tomar decisiones inteligentes.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745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Declarativo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73736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2496312"/>
            <a:ext cx="24323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de hechos y datos.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expresar como afirmaciones sobre el mundo.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9319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'La fiebre es mayor a 38°C'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8745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Procedural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657600" y="2395728"/>
            <a:ext cx="173736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310128" y="2496312"/>
            <a:ext cx="24323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de procesos y reglas.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hacer algo paso a paso.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39319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'Si fiebre Y dolor de garganta → antibiótico'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8745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Metaconocimiento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92240" y="2395728"/>
            <a:ext cx="173736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8" name="Text 16"/>
          <p:cNvSpPr/>
          <p:nvPr/>
        </p:nvSpPr>
        <p:spPr>
          <a:xfrm>
            <a:off x="6144768" y="2496312"/>
            <a:ext cx="24323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sobre el propio conocimiento.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qué sabemos y cómo usarlo.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39319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El Motor de Inferencia lo utiliza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CONOCIMIENTO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central del sistema experto donde se almacena todo el conocimiento del dominio.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4114800" cy="1280160"/>
          </a:xfrm>
          <a:prstGeom prst="roundRect">
            <a:avLst>
              <a:gd name="adj" fmla="val 7143"/>
            </a:avLst>
          </a:prstGeom>
          <a:solidFill>
            <a:srgbClr val="E8F4FD"/>
          </a:solidFill>
          <a:ln/>
          <a:effectLst>
            <a:outerShdw sx="100000" sy="100000" kx="0" ky="0" algn="bl" rotWithShape="0" blurRad="635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920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Dinámicos: </a:t>
            </a:r>
            <a:pPr indent="0" marL="0">
              <a:buNone/>
            </a:pPr>
            <a:r>
              <a:rPr lang="en-US" sz="1150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 entre aplicaciones.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 almacenan en la </a:t>
            </a:r>
            <a:pPr indent="0" marL="0">
              <a:buNone/>
            </a:pPr>
            <a:r>
              <a:rPr lang="en-US" sz="1150" i="1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de trabajo.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3246120"/>
            <a:ext cx="4114800" cy="1508760"/>
          </a:xfrm>
          <a:prstGeom prst="roundRect">
            <a:avLst>
              <a:gd name="adj" fmla="val 6061"/>
            </a:avLst>
          </a:prstGeom>
          <a:solidFill>
            <a:srgbClr val="E8F4FD"/>
          </a:solidFill>
          <a:ln/>
          <a:effectLst>
            <a:outerShdw sx="100000" sy="100000" kx="0" ky="0" algn="bl" rotWithShape="0" blurRad="63500" dist="127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33375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REGLAS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Estáticas: </a:t>
            </a:r>
            <a:pPr indent="0" marL="0">
              <a:buNone/>
            </a:pPr>
            <a:r>
              <a:rPr lang="en-US" sz="1150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cambian entre aplicaciones.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Forma: </a:t>
            </a:r>
            <a:pPr indent="0" marL="0">
              <a:buNone/>
            </a:pPr>
            <a:r>
              <a:rPr lang="en-US" sz="1150" i="1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condición → ENTONCES acción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 almacenan en la base de conocimiento.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114800" cy="3657600"/>
          </a:xfrm>
          <a:prstGeom prst="roundRect">
            <a:avLst>
              <a:gd name="adj" fmla="val 3000"/>
            </a:avLst>
          </a:prstGeom>
          <a:solidFill>
            <a:srgbClr val="0A2342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188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REGLA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12080" y="1627632"/>
            <a:ext cx="3017520" cy="36576"/>
          </a:xfrm>
          <a:prstGeom prst="rect">
            <a:avLst/>
          </a:prstGeom>
          <a:solidFill>
            <a:srgbClr val="1C4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73736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1C4A6E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810512"/>
            <a:ext cx="3566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temperatura &gt; 38°C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dolor de cabeza = sí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ENTONCES</a:t>
            </a:r>
            <a:pPr indent="0" marL="0">
              <a:buNone/>
            </a:pPr>
            <a:r>
              <a:rPr lang="en-US" sz="12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posible = infección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46320" y="324612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algn="ctr" indent="0" marL="0">
              <a:buNone/>
            </a:pPr>
            <a:r>
              <a:rPr lang="en-US" sz="1150" b="1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pPr algn="ctr" indent="0" marL="0">
              <a:buNone/>
            </a:pPr>
            <a:r>
              <a:rPr lang="en-US" sz="11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sistema experto depende directamente 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conocimiento en su base.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DE INFERENCIA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"El motor de inferencia es el componente que aplica las reglas sobre los hechos para generar conclusiones automáticamente."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4114800" cy="2971800"/>
          </a:xfrm>
          <a:prstGeom prst="roundRect">
            <a:avLst>
              <a:gd name="adj" fmla="val 3692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920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Encadenamiento hacia adelante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02920" y="23591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Chaining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70048"/>
            <a:ext cx="347472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7432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los hechos disponibles y aplica reglas para generar nuevas conclusiones.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354787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cuando queremos descubrir qué podemos concluir a partir de lo que ya sabemos.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06240"/>
            <a:ext cx="3657600" cy="365760"/>
          </a:xfrm>
          <a:prstGeom prst="roundRect">
            <a:avLst>
              <a:gd name="adj" fmla="val 15000"/>
            </a:avLst>
          </a:prstGeom>
          <a:solidFill>
            <a:srgbClr val="00B4D8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→ Reglas → Conclusiones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1828800"/>
            <a:ext cx="4114800" cy="2971800"/>
          </a:xfrm>
          <a:prstGeom prst="roundRect">
            <a:avLst>
              <a:gd name="adj" fmla="val 3692"/>
            </a:avLst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920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Encadenamiento hacia atrás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92040" y="23591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Chaining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92040" y="2670048"/>
            <a:ext cx="347472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27432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una hipótesis y trabaja hacia atrás buscando hechos que la sustenten.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354787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cuando queremos verificar si una conclusión específica es válida.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4206240"/>
            <a:ext cx="3657600" cy="365760"/>
          </a:xfrm>
          <a:prstGeom prst="roundRect">
            <a:avLst>
              <a:gd name="adj" fmla="val 15000"/>
            </a:avLst>
          </a:prstGeom>
          <a:solidFill>
            <a:srgbClr val="00B4D8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→ Reglas → Hechos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TIEMPO DE LOS SISTEMAS EXPERTOS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94560"/>
            <a:ext cx="8229600" cy="0"/>
          </a:xfrm>
          <a:prstGeom prst="line">
            <a:avLst/>
          </a:prstGeom>
          <a:noFill/>
          <a:ln w="31750">
            <a:solidFill>
              <a:srgbClr val="1C4A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2075688"/>
            <a:ext cx="237744" cy="237744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34440"/>
            <a:ext cx="0" cy="841248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-137160" y="8686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-137160" y="1216152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Turing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Turing publica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artículo fundacional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755648" y="2075688"/>
            <a:ext cx="237744" cy="237744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0" name="Shape 8"/>
          <p:cNvSpPr/>
          <p:nvPr/>
        </p:nvSpPr>
        <p:spPr>
          <a:xfrm>
            <a:off x="1874520" y="2313432"/>
            <a:ext cx="0" cy="841248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314553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47472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Conferencia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Dartmouth — nace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oficialmente la IA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72968" y="2075688"/>
            <a:ext cx="237744" cy="237744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4" name="Shape 12"/>
          <p:cNvSpPr/>
          <p:nvPr/>
        </p:nvSpPr>
        <p:spPr>
          <a:xfrm>
            <a:off x="3291840" y="1234440"/>
            <a:ext cx="0" cy="841248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97480" y="8686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1216152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DENDRAL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sistema experto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(Stanford)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90288" y="2075688"/>
            <a:ext cx="237744" cy="237744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8" name="Shape 16"/>
          <p:cNvSpPr/>
          <p:nvPr/>
        </p:nvSpPr>
        <p:spPr>
          <a:xfrm>
            <a:off x="4709160" y="2313432"/>
            <a:ext cx="0" cy="841248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0" y="314553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0" y="347472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enfermedades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infecciosas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07608" y="2075688"/>
            <a:ext cx="237744" cy="237744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6480" y="1234440"/>
            <a:ext cx="0" cy="841248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2120" y="8686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32120" y="1216152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Apogeo comercial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XCON — millones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ahorrados por año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424928" y="2075688"/>
            <a:ext cx="237744" cy="237744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6" name="Shape 24"/>
          <p:cNvSpPr/>
          <p:nvPr/>
        </p:nvSpPr>
        <p:spPr>
          <a:xfrm>
            <a:off x="7543800" y="2313432"/>
            <a:ext cx="0" cy="841248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314553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347472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Híbridos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Reglas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Deep Learning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los sistemas expertos evolucionaron hacia sistemas híbridos que combinan reglas con redes neuronales y aprendizaje profundo.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SISTEMAS EXPERTOS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429768" y="1280160"/>
            <a:ext cx="384048" cy="38404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125272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Basados en reglas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 reglas SI-ENTONCES. Deterministas y fáciles de auditar.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25603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MYCIN, XCON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1430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280160"/>
            <a:ext cx="384048" cy="38404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3310128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67328" y="125272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Basados en casos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1737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 problemas buscando casos similares anteriores.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91840" y="25603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Sistemas legales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80760" y="11430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028090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0488" y="1280160"/>
            <a:ext cx="384048" cy="38404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47688" y="125272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Basados en marcos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72200" y="1737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Organizan el conocimiento en estructuras jerárquicas (frames).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72200" y="25603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Diagnóstico médico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920240" y="31546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21295C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9968" y="3291840"/>
            <a:ext cx="384048" cy="38404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4" name="Text 22"/>
          <p:cNvSpPr/>
          <p:nvPr/>
        </p:nvSpPr>
        <p:spPr>
          <a:xfrm>
            <a:off x="2029968" y="3291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87168" y="3264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Difusos (Fuzzy)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11680" y="3749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 lógica difusa para manejar incertidumbre (0 a 1).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Control industrial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31546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0A4A6E"/>
          </a:solidFill>
          <a:ln/>
        </p:spPr>
      </p:sp>
      <p:sp>
        <p:nvSpPr>
          <p:cNvPr id="29" name="Shape 27"/>
          <p:cNvSpPr/>
          <p:nvPr/>
        </p:nvSpPr>
        <p:spPr>
          <a:xfrm>
            <a:off x="4910328" y="3291840"/>
            <a:ext cx="384048" cy="38404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0" name="Text 28"/>
          <p:cNvSpPr/>
          <p:nvPr/>
        </p:nvSpPr>
        <p:spPr>
          <a:xfrm>
            <a:off x="4910328" y="3291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67528" y="3264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92040" y="3749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 reglas + redes neuronales + aprendizaje automático.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92040" y="45720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IA moderna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200400"/>
            <a:ext cx="3200400" cy="3200400"/>
          </a:xfrm>
          <a:prstGeom prst="ellipse">
            <a:avLst/>
          </a:prstGeom>
          <a:solidFill>
            <a:srgbClr val="1C4A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Sistemas Expertos: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tecnología que sigue siendo esencial.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256032" cy="256032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0428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 y automatizan el conocimiento del experto humano.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62072"/>
            <a:ext cx="256032" cy="256032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834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conocimiento y el motor de inferencia son su núcleo.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392424"/>
            <a:ext cx="256032" cy="256032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3649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 5 tipos según su arquitectura y forma de razonamiento.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22776"/>
            <a:ext cx="256032" cy="256032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8953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evolucionaron hacia sistemas híbridos con IA moderna.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453128"/>
            <a:ext cx="256032" cy="256032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2569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esenciales donde se requiere explicabilidad y transparencia.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Alfaro Montalvo  |  Matricula 221204 - Programacion Avanzada IA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Expertos</dc:title>
  <dc:subject>PptxGenJS Presentation</dc:subject>
  <dc:creator>Fernando Alfaro Montalvo</dc:creator>
  <cp:lastModifiedBy>Fernando Alfaro Montalvo</cp:lastModifiedBy>
  <cp:revision>1</cp:revision>
  <dcterms:created xsi:type="dcterms:W3CDTF">2026-06-29T05:22:33Z</dcterms:created>
  <dcterms:modified xsi:type="dcterms:W3CDTF">2026-06-29T05:22:33Z</dcterms:modified>
</cp:coreProperties>
</file>